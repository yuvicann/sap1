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85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sting &amp; MAP" id="{9992FB01-7023-452D-B565-227405FD8959}">
          <p14:sldIdLst>
            <p14:sldId id="259"/>
            <p14:sldId id="260"/>
            <p14:sldId id="261"/>
          </p14:sldIdLst>
        </p14:section>
        <p14:section name="Create PO" id="{4DFE3D69-4AB2-4ED3-8263-5C262C30E039}">
          <p14:sldIdLst>
            <p14:sldId id="262"/>
            <p14:sldId id="263"/>
          </p14:sldIdLst>
        </p14:section>
        <p14:section name="PO Release" id="{B652E260-D3C5-4A7F-A49E-5FB8A3BF6168}">
          <p14:sldIdLst>
            <p14:sldId id="264"/>
            <p14:sldId id="265"/>
          </p14:sldIdLst>
        </p14:section>
        <p14:section name="PO PDF" id="{61CC5137-6E61-43AD-B4C1-243155FF7FC3}">
          <p14:sldIdLst>
            <p14:sldId id="266"/>
            <p14:sldId id="267"/>
          </p14:sldIdLst>
        </p14:section>
        <p14:section name="PO Refresh" id="{83445C92-E252-463E-B90C-FB864A254C51}">
          <p14:sldIdLst>
            <p14:sldId id="268"/>
          </p14:sldIdLst>
        </p14:section>
        <p14:section name="PO Reshoot" id="{88CE8749-2F0C-43C1-AAF9-7424FAE78EB6}">
          <p14:sldIdLst>
            <p14:sldId id="269"/>
            <p14:sldId id="270"/>
          </p14:sldIdLst>
        </p14:section>
        <p14:section name="PO deletion" id="{A92974DA-0034-4FF3-A5A7-7E6E0A88ABEF}">
          <p14:sldIdLst>
            <p14:sldId id="285"/>
            <p14:sldId id="271"/>
            <p14:sldId id="272"/>
            <p14:sldId id="273"/>
            <p14:sldId id="274"/>
          </p14:sldIdLst>
        </p14:section>
        <p14:section name="Extend PO Delivery Date" id="{CFC3976F-0C7B-4222-BAC4-F06BD12C6FDD}">
          <p14:sldIdLst>
            <p14:sldId id="275"/>
            <p14:sldId id="276"/>
            <p14:sldId id="277"/>
            <p14:sldId id="278"/>
            <p14:sldId id="279"/>
          </p14:sldIdLst>
        </p14:section>
        <p14:section name="Edit POs" id="{5004FDF7-FFBC-4A50-9281-56EC4D234265}">
          <p14:sldIdLst>
            <p14:sldId id="280"/>
            <p14:sldId id="281"/>
          </p14:sldIdLst>
        </p14:section>
        <p14:section name="Sales Price &amp; MRP" id="{ED9788B1-D431-4529-B959-056548B7DE50}">
          <p14:sldIdLst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10" autoAdjust="0"/>
  </p:normalViewPr>
  <p:slideViewPr>
    <p:cSldViewPr snapToGrid="0">
      <p:cViewPr varScale="1">
        <p:scale>
          <a:sx n="81" d="100"/>
          <a:sy n="81" d="100"/>
        </p:scale>
        <p:origin x="3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EEF69-6A63-4055-9BDA-681CB0319EC7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042675-FB28-4340-B86B-095444EAE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909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42675-FB28-4340-B86B-095444EAE6B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035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3AB7-A646-46CA-9C85-98259BD62D78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83DD-1CD9-4493-A760-8DAB0F5FB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465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3AB7-A646-46CA-9C85-98259BD62D78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83DD-1CD9-4493-A760-8DAB0F5FB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521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3AB7-A646-46CA-9C85-98259BD62D78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83DD-1CD9-4493-A760-8DAB0F5FB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861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3AB7-A646-46CA-9C85-98259BD62D78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83DD-1CD9-4493-A760-8DAB0F5FB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879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3AB7-A646-46CA-9C85-98259BD62D78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83DD-1CD9-4493-A760-8DAB0F5FB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308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3AB7-A646-46CA-9C85-98259BD62D78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83DD-1CD9-4493-A760-8DAB0F5FB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96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3AB7-A646-46CA-9C85-98259BD62D78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83DD-1CD9-4493-A760-8DAB0F5FB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45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3AB7-A646-46CA-9C85-98259BD62D78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83DD-1CD9-4493-A760-8DAB0F5FB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52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3AB7-A646-46CA-9C85-98259BD62D78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83DD-1CD9-4493-A760-8DAB0F5FB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58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3AB7-A646-46CA-9C85-98259BD62D78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83DD-1CD9-4493-A760-8DAB0F5FB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54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3AB7-A646-46CA-9C85-98259BD62D78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83DD-1CD9-4493-A760-8DAB0F5FB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59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03AB7-A646-46CA-9C85-98259BD62D78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383DD-1CD9-4493-A760-8DAB0F5FBE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875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zlist</a:t>
            </a:r>
            <a:r>
              <a:rPr 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 - To check Listing </a:t>
            </a:r>
            <a:r>
              <a:rPr lang="en-US" sz="32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Status</a:t>
            </a:r>
            <a:endParaRPr lang="en-IN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52387" y="2125700"/>
            <a:ext cx="3458497" cy="2585884"/>
          </a:xfrm>
        </p:spPr>
        <p:txBody>
          <a:bodyPr>
            <a:normAutofit fontScale="70000" lnSpcReduction="20000"/>
          </a:bodyPr>
          <a:lstStyle/>
          <a:p>
            <a:pPr lvl="0" fontAlgn="b">
              <a:defRPr/>
            </a:pPr>
            <a:r>
              <a:rPr lang="fr-FR" b="1" dirty="0">
                <a:solidFill>
                  <a:srgbClr val="000000"/>
                </a:solidFill>
                <a:latin typeface="Calibri" panose="020F0502020204030204" pitchFamily="34" charset="0"/>
              </a:rPr>
              <a:t>To check site-article-</a:t>
            </a:r>
            <a:r>
              <a:rPr lang="fr-FR" b="1" dirty="0" err="1">
                <a:solidFill>
                  <a:srgbClr val="000000"/>
                </a:solidFill>
                <a:latin typeface="Calibri" panose="020F0502020204030204" pitchFamily="34" charset="0"/>
              </a:rPr>
              <a:t>vendor</a:t>
            </a:r>
            <a:r>
              <a:rPr lang="fr-FR" b="1" dirty="0">
                <a:solidFill>
                  <a:srgbClr val="000000"/>
                </a:solidFill>
                <a:latin typeface="Calibri" panose="020F0502020204030204" pitchFamily="34" charset="0"/>
              </a:rPr>
              <a:t> listing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/>
            </a:r>
            <a:b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1. Enter Site Code</a:t>
            </a:r>
            <a:b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2. Enter Article Code</a:t>
            </a:r>
          </a:p>
          <a:p>
            <a:pPr lvl="0" fontAlgn="b">
              <a:defRPr/>
            </a:pPr>
            <a:endParaRPr lang="fr-FR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0" fontAlgn="b">
              <a:defRPr/>
            </a:pP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To check site-article listing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1. Enter Site Code</a:t>
            </a:r>
            <a:b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2. Enter Article Code</a:t>
            </a:r>
            <a:b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3. Tick on check listing status </a:t>
            </a: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</a:rPr>
              <a:t>only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r="19725"/>
          <a:stretch/>
        </p:blipFill>
        <p:spPr>
          <a:xfrm>
            <a:off x="159773" y="2125700"/>
            <a:ext cx="8492614" cy="46655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5867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ym2r - To check  MAP</a:t>
            </a:r>
            <a:endParaRPr lang="en-IN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52387" y="2125700"/>
            <a:ext cx="3458497" cy="2585884"/>
          </a:xfrm>
        </p:spPr>
        <p:txBody>
          <a:bodyPr>
            <a:normAutofit/>
          </a:bodyPr>
          <a:lstStyle/>
          <a:p>
            <a:pPr fontAlgn="b">
              <a:lnSpc>
                <a:spcPct val="70000"/>
              </a:lnSpc>
              <a:defRPr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To check MAP</a:t>
            </a:r>
          </a:p>
          <a:p>
            <a:pPr marL="457200" lvl="1" indent="0" fontAlgn="b">
              <a:lnSpc>
                <a:spcPct val="70000"/>
              </a:lnSpc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1. Click on ALV report</a:t>
            </a:r>
          </a:p>
          <a:p>
            <a:pPr marL="457200" lvl="1" indent="0" fontAlgn="b">
              <a:lnSpc>
                <a:spcPct val="70000"/>
              </a:lnSpc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2. Tick on Stock Data</a:t>
            </a:r>
          </a:p>
          <a:p>
            <a:pPr marL="457200" lvl="1" indent="0" fontAlgn="b">
              <a:lnSpc>
                <a:spcPct val="70000"/>
              </a:lnSpc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3. Enter site code &amp; article code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25982"/>
          <a:stretch/>
        </p:blipFill>
        <p:spPr>
          <a:xfrm>
            <a:off x="117987" y="2125700"/>
            <a:ext cx="7964129" cy="46589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4622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zgst</a:t>
            </a:r>
            <a:r>
              <a:rPr lang="en-US" sz="32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 - To get GST (Tax %) of article</a:t>
            </a:r>
            <a:endParaRPr lang="en-IN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09703" y="2125700"/>
            <a:ext cx="3382297" cy="2585884"/>
          </a:xfrm>
        </p:spPr>
        <p:txBody>
          <a:bodyPr>
            <a:normAutofit/>
          </a:bodyPr>
          <a:lstStyle/>
          <a:p>
            <a:pPr fontAlgn="b">
              <a:defRPr/>
            </a:pPr>
            <a:r>
              <a:rPr lang="en-US" sz="20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To get GST</a:t>
            </a:r>
          </a:p>
          <a:p>
            <a:pPr marL="457200" lvl="1" indent="0" fontAlgn="b"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1. Enter article code</a:t>
            </a:r>
          </a:p>
          <a:p>
            <a:pPr marL="457200" lvl="1" indent="0" fontAlgn="b"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2. Click on 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magifying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glass on "Plant Region" field and select state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8738" y="2125700"/>
            <a:ext cx="8734670" cy="40607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0121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3200" b="1" dirty="0" smtClean="0">
                <a:latin typeface="+mn-lt"/>
              </a:rPr>
              <a:t>me21n - To create PO / STO</a:t>
            </a:r>
            <a:endParaRPr lang="en-IN" sz="3200" b="1" dirty="0"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98399" y="2042807"/>
            <a:ext cx="3462185" cy="2971645"/>
          </a:xfrm>
        </p:spPr>
        <p:txBody>
          <a:bodyPr>
            <a:normAutofit lnSpcReduction="10000"/>
          </a:bodyPr>
          <a:lstStyle/>
          <a:p>
            <a:r>
              <a:rPr lang="en-US" sz="2000" b="1" dirty="0" smtClean="0"/>
              <a:t>To create PO</a:t>
            </a:r>
          </a:p>
          <a:p>
            <a:pPr marL="0" indent="0">
              <a:buNone/>
            </a:pPr>
            <a:r>
              <a:rPr lang="en-US" sz="1600" dirty="0" smtClean="0"/>
              <a:t>1. Enter purchase org. - RP00 </a:t>
            </a:r>
          </a:p>
          <a:p>
            <a:pPr marL="0" indent="0">
              <a:buNone/>
            </a:pPr>
            <a:r>
              <a:rPr lang="en-US" sz="1600" dirty="0" smtClean="0"/>
              <a:t>                   purchase grp - VF0</a:t>
            </a:r>
          </a:p>
          <a:p>
            <a:pPr marL="0" indent="0">
              <a:buNone/>
            </a:pPr>
            <a:r>
              <a:rPr lang="en-US" sz="1600" dirty="0" smtClean="0"/>
              <a:t>                  company code - 9162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IN" sz="1600" dirty="0" smtClean="0"/>
              <a:t>2. Enter vendor code, article code, PO </a:t>
            </a:r>
            <a:r>
              <a:rPr lang="en-IN" sz="1600" dirty="0" err="1" smtClean="0"/>
              <a:t>qty</a:t>
            </a:r>
            <a:r>
              <a:rPr lang="en-IN" sz="1600" dirty="0" smtClean="0"/>
              <a:t>, delivery date, &amp; site code</a:t>
            </a:r>
          </a:p>
          <a:p>
            <a:pPr marL="0" indent="0">
              <a:buNone/>
            </a:pPr>
            <a:endParaRPr lang="en-IN" sz="1600" dirty="0" smtClean="0"/>
          </a:p>
          <a:p>
            <a:pPr marL="0" indent="0">
              <a:buNone/>
            </a:pPr>
            <a:r>
              <a:rPr lang="en-IN" sz="1600" dirty="0" smtClean="0"/>
              <a:t>3. Press Enter</a:t>
            </a:r>
            <a:endParaRPr lang="en-IN" sz="16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235974" y="2002015"/>
            <a:ext cx="8336525" cy="4605262"/>
            <a:chOff x="0" y="0"/>
            <a:chExt cx="5651501" cy="2769305"/>
          </a:xfrm>
        </p:grpSpPr>
        <p:pic>
          <p:nvPicPr>
            <p:cNvPr id="15" name="Picture 14"/>
            <p:cNvPicPr/>
            <p:nvPr/>
          </p:nvPicPr>
          <p:blipFill rotWithShape="1">
            <a:blip r:embed="rId2"/>
            <a:srcRect r="15944" b="18863"/>
            <a:stretch/>
          </p:blipFill>
          <p:spPr>
            <a:xfrm>
              <a:off x="0" y="0"/>
              <a:ext cx="5651501" cy="276930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6" name="Rectangle 15"/>
            <p:cNvSpPr/>
            <p:nvPr/>
          </p:nvSpPr>
          <p:spPr>
            <a:xfrm>
              <a:off x="110350" y="933028"/>
              <a:ext cx="811862" cy="2791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1765608" y="446580"/>
              <a:ext cx="482387" cy="4306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32156" y="1588543"/>
              <a:ext cx="482387" cy="4306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2096652" y="1602895"/>
              <a:ext cx="482387" cy="4306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4352518" y="1636389"/>
              <a:ext cx="482387" cy="4306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757973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3200" b="1" dirty="0" smtClean="0">
                <a:latin typeface="+mn-lt"/>
              </a:rPr>
              <a:t>me21n - To create PO / STO</a:t>
            </a:r>
            <a:endParaRPr lang="en-IN" sz="3200" b="1" dirty="0"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98399" y="2042807"/>
            <a:ext cx="3462185" cy="2971645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To create PO</a:t>
            </a:r>
          </a:p>
          <a:p>
            <a:pPr marL="0" indent="0">
              <a:buNone/>
            </a:pPr>
            <a:r>
              <a:rPr lang="en-US" sz="1600" dirty="0" smtClean="0"/>
              <a:t>4. Save PO (Ctrl + S) or press on save button on top</a:t>
            </a:r>
          </a:p>
          <a:p>
            <a:pPr marL="0" indent="0">
              <a:buNone/>
            </a:pPr>
            <a:r>
              <a:rPr lang="en-US" sz="1600" dirty="0"/>
              <a:t>5</a:t>
            </a:r>
            <a:r>
              <a:rPr lang="en-US" sz="1600" dirty="0" smtClean="0"/>
              <a:t>. Double click on PO number highlighted below and copy the same.</a:t>
            </a:r>
            <a:endParaRPr lang="en-IN" sz="1600" dirty="0"/>
          </a:p>
        </p:txBody>
      </p:sp>
      <p:pic>
        <p:nvPicPr>
          <p:cNvPr id="21" name="Picture 20"/>
          <p:cNvPicPr/>
          <p:nvPr/>
        </p:nvPicPr>
        <p:blipFill rotWithShape="1">
          <a:blip r:embed="rId2"/>
          <a:srcRect r="17629" b="4918"/>
          <a:stretch/>
        </p:blipFill>
        <p:spPr>
          <a:xfrm>
            <a:off x="96114" y="1690687"/>
            <a:ext cx="7995833" cy="49952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2" name="Rectangle 21"/>
          <p:cNvSpPr/>
          <p:nvPr/>
        </p:nvSpPr>
        <p:spPr>
          <a:xfrm>
            <a:off x="1768008" y="6368795"/>
            <a:ext cx="711519" cy="2876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1632155" y="1927124"/>
            <a:ext cx="255638" cy="2556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012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3200" b="1" dirty="0">
                <a:latin typeface="+mn-lt"/>
              </a:rPr>
              <a:t>m</a:t>
            </a:r>
            <a:r>
              <a:rPr lang="it-IT" sz="3200" b="1" dirty="0" smtClean="0">
                <a:latin typeface="+mn-lt"/>
              </a:rPr>
              <a:t>e28 – Release PO</a:t>
            </a:r>
            <a:endParaRPr lang="en-IN" sz="3200" b="1" dirty="0"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98399" y="2042807"/>
            <a:ext cx="3462185" cy="3453425"/>
          </a:xfrm>
        </p:spPr>
        <p:txBody>
          <a:bodyPr>
            <a:normAutofit lnSpcReduction="10000"/>
          </a:bodyPr>
          <a:lstStyle/>
          <a:p>
            <a:r>
              <a:rPr lang="en-US" sz="2000" b="1" dirty="0" smtClean="0"/>
              <a:t>To release PO</a:t>
            </a:r>
          </a:p>
          <a:p>
            <a:pPr marL="0" indent="0">
              <a:buNone/>
            </a:pPr>
            <a:r>
              <a:rPr lang="en-US" sz="1600" dirty="0"/>
              <a:t>1</a:t>
            </a:r>
            <a:r>
              <a:rPr lang="en-US" sz="1600" dirty="0" smtClean="0"/>
              <a:t>. Enter release code – 00 / 02 / 04</a:t>
            </a:r>
          </a:p>
          <a:p>
            <a:pPr marL="0" indent="0">
              <a:buNone/>
            </a:pPr>
            <a:r>
              <a:rPr lang="en-US" sz="1600" dirty="0" smtClean="0"/>
              <a:t>2. Enter PO number in document number field</a:t>
            </a:r>
          </a:p>
          <a:p>
            <a:pPr marL="0" indent="0">
              <a:buNone/>
            </a:pPr>
            <a:r>
              <a:rPr lang="en-US" sz="1600" dirty="0" smtClean="0"/>
              <a:t>3. Press Execute button on left-top or press F8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Release Code:</a:t>
            </a:r>
          </a:p>
          <a:p>
            <a:pPr marL="0" indent="0">
              <a:buNone/>
            </a:pPr>
            <a:r>
              <a:rPr lang="en-US" sz="1600" dirty="0" smtClean="0"/>
              <a:t>00 – PO Value &lt; 3 Lakhs</a:t>
            </a:r>
          </a:p>
          <a:p>
            <a:pPr marL="0" indent="0">
              <a:buNone/>
            </a:pPr>
            <a:r>
              <a:rPr lang="en-US" sz="1600" dirty="0" smtClean="0"/>
              <a:t>02 </a:t>
            </a:r>
            <a:r>
              <a:rPr lang="en-US" sz="1600" dirty="0"/>
              <a:t>– PO Value </a:t>
            </a:r>
            <a:r>
              <a:rPr lang="en-US" sz="1600" dirty="0" smtClean="0"/>
              <a:t>3 to 5 Lakhs</a:t>
            </a:r>
          </a:p>
          <a:p>
            <a:pPr marL="0" indent="0">
              <a:buNone/>
            </a:pPr>
            <a:r>
              <a:rPr lang="en-US" sz="1600" dirty="0" smtClean="0"/>
              <a:t>04 – PO Value &gt; 5 Lakhs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05" y="2042807"/>
            <a:ext cx="8372054" cy="47038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45378" y="1395590"/>
            <a:ext cx="8864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PO must be released by the person </a:t>
            </a:r>
            <a:r>
              <a:rPr lang="en-US" i="1" u="sng" dirty="0" smtClean="0"/>
              <a:t>who is not creator / author of that PO.</a:t>
            </a:r>
            <a:endParaRPr lang="en-IN" i="1" u="sng" dirty="0"/>
          </a:p>
        </p:txBody>
      </p:sp>
    </p:spTree>
    <p:extLst>
      <p:ext uri="{BB962C8B-B14F-4D97-AF65-F5344CB8AC3E}">
        <p14:creationId xmlns:p14="http://schemas.microsoft.com/office/powerpoint/2010/main" val="878014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3200" b="1" dirty="0">
                <a:latin typeface="+mn-lt"/>
              </a:rPr>
              <a:t>m</a:t>
            </a:r>
            <a:r>
              <a:rPr lang="it-IT" sz="3200" b="1" dirty="0" smtClean="0">
                <a:latin typeface="+mn-lt"/>
              </a:rPr>
              <a:t>e28 – Release PO</a:t>
            </a:r>
            <a:endParaRPr lang="en-IN" sz="3200" b="1" dirty="0"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98399" y="2042807"/>
            <a:ext cx="3462185" cy="2971645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To release PO</a:t>
            </a:r>
          </a:p>
          <a:p>
            <a:pPr marL="0" indent="0">
              <a:buNone/>
            </a:pPr>
            <a:r>
              <a:rPr lang="en-US" sz="1600" dirty="0" smtClean="0"/>
              <a:t>4. Click on highlighted line &amp; click on release</a:t>
            </a:r>
          </a:p>
          <a:p>
            <a:pPr marL="0" indent="0">
              <a:buNone/>
            </a:pPr>
            <a:r>
              <a:rPr lang="en-US" sz="1600" dirty="0" smtClean="0"/>
              <a:t>5. Save the document (Ctrl + S)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8" y="2042807"/>
            <a:ext cx="8150942" cy="47346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45378" y="1395590"/>
            <a:ext cx="8864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PO must be released by the person </a:t>
            </a:r>
            <a:r>
              <a:rPr lang="en-US" i="1" u="sng" dirty="0" smtClean="0"/>
              <a:t>who is not creator / author of that PO.</a:t>
            </a:r>
            <a:endParaRPr lang="en-IN" i="1" u="sng" dirty="0"/>
          </a:p>
        </p:txBody>
      </p:sp>
    </p:spTree>
    <p:extLst>
      <p:ext uri="{BB962C8B-B14F-4D97-AF65-F5344CB8AC3E}">
        <p14:creationId xmlns:p14="http://schemas.microsoft.com/office/powerpoint/2010/main" val="4166003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54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 smtClean="0">
                <a:latin typeface="+mn-lt"/>
              </a:rPr>
              <a:t>ym42 – PO PDF</a:t>
            </a:r>
            <a:endParaRPr lang="en-IN" sz="3200" b="1" dirty="0"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98399" y="2062471"/>
            <a:ext cx="3462185" cy="2971645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To get PO PDF</a:t>
            </a:r>
          </a:p>
          <a:p>
            <a:pPr marL="342900" indent="-342900">
              <a:buAutoNum type="arabicPeriod"/>
            </a:pPr>
            <a:r>
              <a:rPr lang="en-US" sz="1600" dirty="0" smtClean="0"/>
              <a:t>Enter PO no. in Purchasing document field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600" dirty="0"/>
              <a:t>Press Execute button on left-top or press F8</a:t>
            </a:r>
          </a:p>
          <a:p>
            <a:pPr marL="342900" indent="-342900">
              <a:buAutoNum type="arabicPeriod"/>
            </a:pPr>
            <a:endParaRPr lang="en-US" sz="16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18856"/>
          <a:stretch/>
        </p:blipFill>
        <p:spPr>
          <a:xfrm>
            <a:off x="129662" y="2062471"/>
            <a:ext cx="8040943" cy="47105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25033" y="2072303"/>
            <a:ext cx="825908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1 &amp; 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8376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54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 smtClean="0">
                <a:latin typeface="+mn-lt"/>
              </a:rPr>
              <a:t>ym42 – PO PDF</a:t>
            </a:r>
            <a:endParaRPr lang="en-IN" sz="3200" b="1" dirty="0"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02013" y="1443038"/>
            <a:ext cx="4470081" cy="2971645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To get PO PDF</a:t>
            </a:r>
          </a:p>
          <a:p>
            <a:pPr marL="0" indent="0">
              <a:buNone/>
            </a:pPr>
            <a:r>
              <a:rPr lang="en-US" sz="1600" dirty="0" smtClean="0"/>
              <a:t>3. Tick on the box beside PO no. &amp; click on trial printout. Trial printout window will appear</a:t>
            </a:r>
          </a:p>
          <a:p>
            <a:pPr marL="0" indent="0">
              <a:buNone/>
            </a:pPr>
            <a:r>
              <a:rPr lang="en-US" sz="1600" dirty="0" smtClean="0"/>
              <a:t>4. Click on ‘Included’ box (As highlighted in image) then click </a:t>
            </a:r>
            <a:r>
              <a:rPr lang="en-US" sz="1600" dirty="0"/>
              <a:t>on </a:t>
            </a:r>
            <a:r>
              <a:rPr lang="en-US" sz="1600" dirty="0" smtClean="0"/>
              <a:t>‘Selected’ button.</a:t>
            </a:r>
          </a:p>
          <a:p>
            <a:pPr marL="0" indent="0">
              <a:buNone/>
            </a:pPr>
            <a:r>
              <a:rPr lang="en-US" sz="1600" dirty="0" smtClean="0"/>
              <a:t>5. Save PO as PDF document.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10471" b="22321"/>
          <a:stretch/>
        </p:blipFill>
        <p:spPr>
          <a:xfrm>
            <a:off x="133350" y="1443038"/>
            <a:ext cx="6945876" cy="17327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r="2782" b="5952"/>
          <a:stretch/>
        </p:blipFill>
        <p:spPr>
          <a:xfrm>
            <a:off x="133350" y="3257513"/>
            <a:ext cx="6100302" cy="35532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004" y="3729461"/>
            <a:ext cx="5651090" cy="300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734085" y="1452870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3</a:t>
            </a:r>
            <a:endParaRPr lang="en-IN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883226" y="3267974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4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1623664" y="3739293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53675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54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 smtClean="0">
                <a:latin typeface="+mn-lt"/>
              </a:rPr>
              <a:t>zpohsnupd – To refresh PO</a:t>
            </a:r>
            <a:endParaRPr lang="en-IN" sz="3200" b="1" dirty="0"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57916" y="1949588"/>
            <a:ext cx="4835519" cy="2629027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 smtClean="0"/>
              <a:t>To get PO PDF</a:t>
            </a:r>
          </a:p>
          <a:p>
            <a:pPr marL="342900" indent="-342900">
              <a:buAutoNum type="arabicPeriod"/>
            </a:pPr>
            <a:r>
              <a:rPr lang="en-US" sz="1600" dirty="0" smtClean="0"/>
              <a:t>Enter purchasing grp – VF0 &amp; PO no. in purchasing document field.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500" dirty="0" smtClean="0"/>
              <a:t>To enter multiple POs, click on highlighted arrow</a:t>
            </a:r>
            <a:endParaRPr lang="en-US" sz="1200" dirty="0" smtClean="0"/>
          </a:p>
          <a:p>
            <a:pPr marL="0" indent="0">
              <a:buNone/>
            </a:pPr>
            <a:r>
              <a:rPr lang="en-US" sz="1600" dirty="0"/>
              <a:t>2. Press Execute button on left-top or press </a:t>
            </a:r>
            <a:r>
              <a:rPr lang="en-US" sz="1600" dirty="0" smtClean="0"/>
              <a:t>F8</a:t>
            </a:r>
          </a:p>
          <a:p>
            <a:pPr marL="0" indent="0">
              <a:buNone/>
            </a:pPr>
            <a:r>
              <a:rPr lang="en-US" sz="1600" dirty="0" smtClean="0"/>
              <a:t>3. Click on ‘Select All’ field highlighted in left-top side.</a:t>
            </a:r>
          </a:p>
          <a:p>
            <a:pPr marL="0" indent="0">
              <a:buNone/>
            </a:pPr>
            <a:r>
              <a:rPr lang="en-US" sz="1600" dirty="0" smtClean="0"/>
              <a:t>4. Click on ‘Update HSN’ &amp; wait for some time</a:t>
            </a:r>
          </a:p>
          <a:p>
            <a:pPr marL="0" indent="0">
              <a:buNone/>
            </a:pPr>
            <a:r>
              <a:rPr lang="en-US" sz="1600" dirty="0" smtClean="0"/>
              <a:t>5. Click on ‘Refresh’ &amp; wait for few seconds to update the PO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45378" y="4096249"/>
            <a:ext cx="9503185" cy="2399671"/>
            <a:chOff x="249648" y="3910116"/>
            <a:chExt cx="9503185" cy="2399671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648" y="4414683"/>
              <a:ext cx="9503185" cy="18951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TextBox 8"/>
            <p:cNvSpPr txBox="1"/>
            <p:nvPr/>
          </p:nvSpPr>
          <p:spPr>
            <a:xfrm>
              <a:off x="372614" y="3910116"/>
              <a:ext cx="328766" cy="36933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3</a:t>
              </a:r>
              <a:endParaRPr lang="en-IN" b="1" dirty="0"/>
            </a:p>
          </p:txBody>
        </p:sp>
        <p:cxnSp>
          <p:nvCxnSpPr>
            <p:cNvPr id="14" name="Straight Arrow Connector 13"/>
            <p:cNvCxnSpPr>
              <a:stCxn id="9" idx="2"/>
            </p:cNvCxnSpPr>
            <p:nvPr/>
          </p:nvCxnSpPr>
          <p:spPr>
            <a:xfrm flipH="1">
              <a:off x="462116" y="4279448"/>
              <a:ext cx="74881" cy="46953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45378" y="1395590"/>
            <a:ext cx="8864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This t-code is used to update PO especially if cost price is updated post creation of PO.</a:t>
            </a:r>
            <a:endParaRPr lang="en-IN" i="1" dirty="0"/>
          </a:p>
        </p:txBody>
      </p:sp>
      <p:grpSp>
        <p:nvGrpSpPr>
          <p:cNvPr id="20" name="Group 19"/>
          <p:cNvGrpSpPr/>
          <p:nvPr/>
        </p:nvGrpSpPr>
        <p:grpSpPr>
          <a:xfrm>
            <a:off x="145378" y="2040355"/>
            <a:ext cx="6813204" cy="1673715"/>
            <a:chOff x="145378" y="2040355"/>
            <a:chExt cx="6813204" cy="167371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378" y="2040355"/>
              <a:ext cx="6813204" cy="167371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TextBox 16"/>
            <p:cNvSpPr txBox="1"/>
            <p:nvPr/>
          </p:nvSpPr>
          <p:spPr>
            <a:xfrm>
              <a:off x="5155891" y="2194512"/>
              <a:ext cx="484039" cy="36933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1a</a:t>
              </a:r>
              <a:endParaRPr lang="en-IN" b="1" dirty="0"/>
            </a:p>
          </p:txBody>
        </p:sp>
        <p:cxnSp>
          <p:nvCxnSpPr>
            <p:cNvPr id="18" name="Straight Arrow Connector 17"/>
            <p:cNvCxnSpPr>
              <a:stCxn id="17" idx="2"/>
            </p:cNvCxnSpPr>
            <p:nvPr/>
          </p:nvCxnSpPr>
          <p:spPr>
            <a:xfrm>
              <a:off x="5397911" y="2563844"/>
              <a:ext cx="484038" cy="57264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477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54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 smtClean="0">
                <a:latin typeface="+mn-lt"/>
              </a:rPr>
              <a:t>zrrm – To reshoot PO</a:t>
            </a:r>
            <a:endParaRPr lang="en-IN" sz="3200" b="1" dirty="0"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11846" y="1926438"/>
            <a:ext cx="4835519" cy="1757173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To reshoot PO</a:t>
            </a:r>
          </a:p>
          <a:p>
            <a:pPr marL="342900" indent="-342900">
              <a:buAutoNum type="arabicPeriod"/>
            </a:pPr>
            <a:r>
              <a:rPr lang="en-US" sz="1600" dirty="0" smtClean="0"/>
              <a:t>Click on ‘Get Variant’ button highlighted in the image</a:t>
            </a:r>
          </a:p>
          <a:p>
            <a:pPr marL="342900" indent="-342900">
              <a:buAutoNum type="arabicPeriod"/>
            </a:pPr>
            <a:r>
              <a:rPr lang="en-US" sz="1600" dirty="0" smtClean="0"/>
              <a:t>Select ‘PO RESEND1’ and click on ‘Correct Tick’ button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78" y="1395590"/>
            <a:ext cx="1157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This t-code is useful only if E-mail ID of vendor is updated in the system. PO will be sent to respective mail id of vendor.</a:t>
            </a:r>
            <a:endParaRPr lang="en-IN" i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32" y="4128574"/>
            <a:ext cx="4103102" cy="26295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32" y="1926438"/>
            <a:ext cx="6975371" cy="20406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3647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54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>
                <a:latin typeface="+mn-lt"/>
              </a:rPr>
              <a:t>zrrm – To reshoot PO</a:t>
            </a:r>
            <a:endParaRPr lang="en-IN" sz="3200" b="1" dirty="0"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9936" y="1782439"/>
            <a:ext cx="3673667" cy="2629027"/>
          </a:xfrm>
        </p:spPr>
        <p:txBody>
          <a:bodyPr>
            <a:normAutofit/>
          </a:bodyPr>
          <a:lstStyle/>
          <a:p>
            <a:r>
              <a:rPr lang="en-US" sz="2000" b="1" dirty="0"/>
              <a:t>To reshoot PO</a:t>
            </a: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3.  Enter PO </a:t>
            </a:r>
            <a:r>
              <a:rPr lang="en-US" sz="1600" dirty="0"/>
              <a:t>no. in </a:t>
            </a:r>
            <a:r>
              <a:rPr lang="en-US" sz="1600" dirty="0" smtClean="0"/>
              <a:t>purchase order </a:t>
            </a:r>
            <a:r>
              <a:rPr lang="en-US" sz="1600" dirty="0"/>
              <a:t>field.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500" dirty="0"/>
              <a:t>To enter multiple POs, click on highlighted arrow</a:t>
            </a:r>
            <a:endParaRPr lang="en-US" sz="1200" dirty="0"/>
          </a:p>
          <a:p>
            <a:pPr marL="0" indent="0">
              <a:buNone/>
            </a:pPr>
            <a:r>
              <a:rPr lang="en-US" sz="1600" dirty="0" smtClean="0"/>
              <a:t>4. Select ‘Send all new outputs’ if new article is added, else select ‘Send again all correct outputs’</a:t>
            </a:r>
          </a:p>
          <a:p>
            <a:pPr marL="0" indent="0">
              <a:buNone/>
            </a:pPr>
            <a:r>
              <a:rPr lang="en-US" sz="1600" dirty="0"/>
              <a:t>5</a:t>
            </a:r>
            <a:r>
              <a:rPr lang="en-US" sz="1600" dirty="0" smtClean="0"/>
              <a:t>. </a:t>
            </a:r>
            <a:r>
              <a:rPr lang="en-US" sz="1600" dirty="0"/>
              <a:t>Press Execute button on left-top or press F8</a:t>
            </a:r>
          </a:p>
          <a:p>
            <a:pPr marL="0" indent="0">
              <a:buNone/>
            </a:pPr>
            <a:endParaRPr lang="en-US" sz="1600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00" y="1671023"/>
            <a:ext cx="7665168" cy="39082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30224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Me22n To delete single </a:t>
            </a:r>
            <a:r>
              <a:rPr lang="en-US" dirty="0" err="1" smtClean="0"/>
              <a:t>po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Other purchase order</a:t>
            </a:r>
          </a:p>
          <a:p>
            <a:r>
              <a:rPr lang="en-US" sz="1800" dirty="0" smtClean="0"/>
              <a:t>Insert </a:t>
            </a:r>
            <a:r>
              <a:rPr lang="en-US" sz="1800" dirty="0" err="1" smtClean="0"/>
              <a:t>po</a:t>
            </a:r>
            <a:r>
              <a:rPr lang="en-US" sz="1800" dirty="0" smtClean="0"/>
              <a:t> no and click other purchase no</a:t>
            </a:r>
          </a:p>
          <a:p>
            <a:r>
              <a:rPr lang="en-US" sz="1800" dirty="0" smtClean="0"/>
              <a:t>Select article no and click on dustbin icon below</a:t>
            </a:r>
          </a:p>
          <a:p>
            <a:r>
              <a:rPr lang="en-US" sz="1800" dirty="0" smtClean="0"/>
              <a:t>Save the document</a:t>
            </a:r>
            <a:endParaRPr lang="en-IN" sz="1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734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memasspo – To delete / undelete multiple POs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12819" b="28763"/>
          <a:stretch/>
        </p:blipFill>
        <p:spPr>
          <a:xfrm>
            <a:off x="838200" y="1690688"/>
            <a:ext cx="7162924" cy="25371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9934" y="1825625"/>
            <a:ext cx="3143865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To </a:t>
            </a:r>
            <a:r>
              <a:rPr lang="en-US" sz="2000" b="1" dirty="0" smtClean="0"/>
              <a:t>delete POs</a:t>
            </a:r>
            <a:endParaRPr lang="en-US" sz="2000" b="1" dirty="0"/>
          </a:p>
          <a:p>
            <a:pPr marL="342900" indent="-342900">
              <a:buAutoNum type="arabicPeriod"/>
            </a:pPr>
            <a:r>
              <a:rPr lang="en-US" sz="2000" dirty="0" smtClean="0"/>
              <a:t>Select on highlighted box beside ‘Purchase Order Item’</a:t>
            </a:r>
          </a:p>
          <a:p>
            <a:pPr marL="342900" indent="-342900">
              <a:buAutoNum type="arabicPeriod"/>
            </a:pPr>
            <a:r>
              <a:rPr lang="en-US" sz="2000" dirty="0" smtClean="0"/>
              <a:t>Press </a:t>
            </a:r>
            <a:r>
              <a:rPr lang="en-US" sz="2000" dirty="0"/>
              <a:t>Execute button on left-top or press </a:t>
            </a:r>
            <a:r>
              <a:rPr lang="en-US" sz="2000" dirty="0" smtClean="0"/>
              <a:t>F8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000" dirty="0"/>
              <a:t>Enter PO no. in purchase order field</a:t>
            </a:r>
            <a:r>
              <a:rPr lang="en-US" sz="20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sz="1600" dirty="0"/>
              <a:t>To enter multiple POs, click on highlighted arrow</a:t>
            </a:r>
            <a:endParaRPr lang="en-US" sz="1400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000" dirty="0"/>
              <a:t>Press Execute button on left-top or press F8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sz="2000" dirty="0"/>
          </a:p>
          <a:p>
            <a:pPr marL="800100" lvl="1" indent="-342900">
              <a:buAutoNum type="arabicPeriod"/>
            </a:pPr>
            <a:endParaRPr lang="en-US" sz="1600" dirty="0" smtClean="0"/>
          </a:p>
          <a:p>
            <a:pPr marL="342900" indent="-342900">
              <a:buAutoNum type="arabicPeriod"/>
            </a:pP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65523"/>
            <a:ext cx="7182102" cy="21838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14751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memasspo – To delete / undelete multiple POs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9935" y="1690688"/>
            <a:ext cx="3143865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To </a:t>
            </a:r>
            <a:r>
              <a:rPr lang="en-US" sz="2000" b="1" dirty="0" smtClean="0"/>
              <a:t>delete </a:t>
            </a:r>
            <a:r>
              <a:rPr lang="en-US" sz="2000" b="1" dirty="0"/>
              <a:t>PO</a:t>
            </a:r>
          </a:p>
          <a:p>
            <a:pPr marL="0" indent="0">
              <a:buNone/>
            </a:pPr>
            <a:r>
              <a:rPr lang="en-US" sz="2000" dirty="0" smtClean="0"/>
              <a:t>5. Click on highlighted box ‘Select fields’</a:t>
            </a:r>
          </a:p>
          <a:p>
            <a:pPr marL="0" indent="0">
              <a:buNone/>
            </a:pPr>
            <a:r>
              <a:rPr lang="en-US" sz="2000" dirty="0" smtClean="0"/>
              <a:t>6. Click </a:t>
            </a:r>
            <a:r>
              <a:rPr lang="en-US" sz="2000" dirty="0"/>
              <a:t>on highlighted box </a:t>
            </a:r>
            <a:r>
              <a:rPr lang="en-US" sz="2000" dirty="0" smtClean="0"/>
              <a:t>beside ‘Deletion Indicator’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7. Click on highlighted arrow and click on ‘Correct tick-mark’ button at bottom.</a:t>
            </a:r>
            <a:endParaRPr lang="en-US" sz="1600" dirty="0" smtClean="0"/>
          </a:p>
          <a:p>
            <a:pPr marL="342900" indent="-342900">
              <a:buAutoNum type="arabicPeriod"/>
            </a:pPr>
            <a:endParaRPr lang="en-US" sz="2000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22496" b="13962"/>
          <a:stretch/>
        </p:blipFill>
        <p:spPr>
          <a:xfrm>
            <a:off x="838197" y="1532934"/>
            <a:ext cx="6801465" cy="21925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7" y="3814664"/>
            <a:ext cx="6801465" cy="29646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57511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memasspo – To delete / undelete multiple POs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17854" b="11486"/>
          <a:stretch/>
        </p:blipFill>
        <p:spPr>
          <a:xfrm>
            <a:off x="667912" y="1579817"/>
            <a:ext cx="5504287" cy="22455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ontent Placeholder 3"/>
          <p:cNvSpPr>
            <a:spLocks noGrp="1"/>
          </p:cNvSpPr>
          <p:nvPr>
            <p:ph sz="half" idx="1"/>
          </p:nvPr>
        </p:nvSpPr>
        <p:spPr>
          <a:xfrm>
            <a:off x="6609736" y="1579818"/>
            <a:ext cx="5181600" cy="2392414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To </a:t>
            </a:r>
            <a:r>
              <a:rPr lang="en-US" sz="2000" b="1" dirty="0" smtClean="0"/>
              <a:t>delete </a:t>
            </a:r>
            <a:r>
              <a:rPr lang="en-US" sz="2000" b="1" dirty="0"/>
              <a:t>PO</a:t>
            </a:r>
          </a:p>
          <a:p>
            <a:pPr marL="0" indent="0">
              <a:buNone/>
            </a:pPr>
            <a:r>
              <a:rPr lang="en-US" sz="2000" dirty="0" smtClean="0"/>
              <a:t>8. New column will get inserted. Click on highlighted area.</a:t>
            </a:r>
          </a:p>
          <a:p>
            <a:pPr marL="0" indent="0">
              <a:buNone/>
            </a:pPr>
            <a:r>
              <a:rPr lang="en-US" sz="2000" dirty="0" smtClean="0"/>
              <a:t>9. Enter ‘L’ in the highlighted area.</a:t>
            </a:r>
          </a:p>
          <a:p>
            <a:pPr marL="0" indent="0">
              <a:buNone/>
            </a:pPr>
            <a:r>
              <a:rPr lang="en-US" sz="2000" dirty="0" smtClean="0"/>
              <a:t>10. Click on ‘Perform mass change’ button.</a:t>
            </a:r>
          </a:p>
          <a:p>
            <a:pPr marL="0" indent="0">
              <a:buNone/>
            </a:pPr>
            <a:r>
              <a:rPr lang="en-US" sz="2000" dirty="0" smtClean="0"/>
              <a:t>11. Deletion indicator ‘L’ will appear in front of all items. Press ‘Ctrl + S’ to save the changes.</a:t>
            </a:r>
            <a:endParaRPr lang="en-US" sz="1600" dirty="0" smtClean="0"/>
          </a:p>
          <a:p>
            <a:pPr marL="342900" indent="-342900">
              <a:buAutoNum type="arabicPeriod"/>
            </a:pPr>
            <a:endParaRPr lang="en-US" sz="2000" dirty="0"/>
          </a:p>
        </p:txBody>
      </p:sp>
      <p:pic>
        <p:nvPicPr>
          <p:cNvPr id="9" name="Content Placeholder 4"/>
          <p:cNvPicPr>
            <a:picLocks noChangeAspect="1"/>
          </p:cNvPicPr>
          <p:nvPr/>
        </p:nvPicPr>
        <p:blipFill rotWithShape="1">
          <a:blip r:embed="rId3"/>
          <a:srcRect t="19695" b="17053"/>
          <a:stretch/>
        </p:blipFill>
        <p:spPr>
          <a:xfrm>
            <a:off x="667913" y="4306530"/>
            <a:ext cx="5522173" cy="2231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Content Placeholder 5"/>
          <p:cNvPicPr>
            <a:picLocks noChangeAspect="1"/>
          </p:cNvPicPr>
          <p:nvPr/>
        </p:nvPicPr>
        <p:blipFill rotWithShape="1">
          <a:blip r:embed="rId4"/>
          <a:srcRect t="13900" b="20518"/>
          <a:stretch/>
        </p:blipFill>
        <p:spPr>
          <a:xfrm>
            <a:off x="6437671" y="4306530"/>
            <a:ext cx="5181600" cy="22319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8495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memasspo – To delete / undelete multiple POs</a:t>
            </a: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To </a:t>
            </a:r>
            <a:r>
              <a:rPr lang="en-US" sz="2000" b="1" dirty="0" smtClean="0"/>
              <a:t>undelete </a:t>
            </a:r>
            <a:r>
              <a:rPr lang="en-US" sz="2000" b="1" dirty="0"/>
              <a:t>PO</a:t>
            </a:r>
          </a:p>
          <a:p>
            <a:pPr marL="0" indent="0">
              <a:buNone/>
            </a:pPr>
            <a:r>
              <a:rPr lang="en-US" sz="2000" dirty="0"/>
              <a:t>8. </a:t>
            </a:r>
            <a:r>
              <a:rPr lang="en-US" sz="2000" dirty="0" smtClean="0"/>
              <a:t>Repeat the process till step 7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9. </a:t>
            </a:r>
            <a:r>
              <a:rPr lang="en-US" sz="2000" dirty="0" smtClean="0"/>
              <a:t>Remove </a:t>
            </a:r>
            <a:r>
              <a:rPr lang="en-US" sz="2000" dirty="0"/>
              <a:t>‘L’ in the highlighted area.</a:t>
            </a:r>
          </a:p>
          <a:p>
            <a:pPr marL="0" indent="0">
              <a:buNone/>
            </a:pPr>
            <a:r>
              <a:rPr lang="en-US" sz="2000" dirty="0"/>
              <a:t>10. Click on ‘Perform mass change’ button.</a:t>
            </a:r>
          </a:p>
          <a:p>
            <a:pPr marL="0" indent="0">
              <a:buNone/>
            </a:pPr>
            <a:r>
              <a:rPr lang="en-US" sz="2000" dirty="0"/>
              <a:t>11. Deletion indicator ‘L’ will </a:t>
            </a:r>
            <a:r>
              <a:rPr lang="en-US" sz="2000" dirty="0" smtClean="0"/>
              <a:t>disappear </a:t>
            </a:r>
            <a:r>
              <a:rPr lang="en-US" sz="2000" dirty="0"/>
              <a:t>in front of all items. Press ‘Ctrl + S’ to save the changes.</a:t>
            </a:r>
          </a:p>
          <a:p>
            <a:endParaRPr lang="en-IN" sz="20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703007" y="1690688"/>
            <a:ext cx="5181600" cy="2500109"/>
            <a:chOff x="870155" y="2329009"/>
            <a:chExt cx="5181600" cy="2500109"/>
          </a:xfrm>
        </p:grpSpPr>
        <p:pic>
          <p:nvPicPr>
            <p:cNvPr id="13" name="Content Placeholder 4"/>
            <p:cNvPicPr>
              <a:picLocks noChangeAspect="1"/>
            </p:cNvPicPr>
            <p:nvPr/>
          </p:nvPicPr>
          <p:blipFill rotWithShape="1">
            <a:blip r:embed="rId2"/>
            <a:srcRect t="19615"/>
            <a:stretch/>
          </p:blipFill>
          <p:spPr>
            <a:xfrm>
              <a:off x="870155" y="2329009"/>
              <a:ext cx="5181600" cy="250010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Rectangle 13"/>
            <p:cNvSpPr/>
            <p:nvPr/>
          </p:nvSpPr>
          <p:spPr>
            <a:xfrm>
              <a:off x="2313039" y="3115887"/>
              <a:ext cx="245806" cy="257702"/>
            </a:xfrm>
            <a:prstGeom prst="rect">
              <a:avLst/>
            </a:prstGeom>
            <a:solidFill>
              <a:srgbClr val="FFFF00">
                <a:alpha val="65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5" name="Content Placeholder 5"/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t="19576" b="14486"/>
          <a:stretch/>
        </p:blipFill>
        <p:spPr>
          <a:xfrm>
            <a:off x="703007" y="4405314"/>
            <a:ext cx="5181600" cy="22220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413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m</a:t>
            </a:r>
            <a:r>
              <a:rPr lang="it-IT" sz="3200" b="1" dirty="0" smtClean="0">
                <a:solidFill>
                  <a:prstClr val="black"/>
                </a:solidFill>
                <a:latin typeface="Calibri" panose="020F0502020204030204"/>
              </a:rPr>
              <a:t>ass_ekko </a:t>
            </a:r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– To </a:t>
            </a:r>
            <a:r>
              <a:rPr lang="it-IT" sz="3200" b="1" dirty="0" smtClean="0">
                <a:solidFill>
                  <a:prstClr val="black"/>
                </a:solidFill>
                <a:latin typeface="Calibri" panose="020F0502020204030204"/>
              </a:rPr>
              <a:t>extend delivery date of POs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39905" b="7058"/>
          <a:stretch/>
        </p:blipFill>
        <p:spPr>
          <a:xfrm>
            <a:off x="838200" y="1825626"/>
            <a:ext cx="5031658" cy="32969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Content Placeholder 7"/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smtClean="0"/>
              <a:t>To extend PO delivery date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Click on ‘Multiple selection’ button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Select ‘Select from EKPO (Item Line)’ and click on ‘Correct tick-mark’ button on bottom side.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2000" dirty="0" smtClean="0"/>
          </a:p>
          <a:p>
            <a:endParaRPr lang="en-IN" sz="2000" dirty="0"/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4190722"/>
            <a:ext cx="5181600" cy="25118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3900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m</a:t>
            </a:r>
            <a:r>
              <a:rPr lang="it-IT" sz="3200" b="1" dirty="0" smtClean="0">
                <a:solidFill>
                  <a:prstClr val="black"/>
                </a:solidFill>
                <a:latin typeface="Calibri" panose="020F0502020204030204"/>
              </a:rPr>
              <a:t>ass_ekko </a:t>
            </a:r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– To </a:t>
            </a:r>
            <a:r>
              <a:rPr lang="it-IT" sz="3200" b="1" dirty="0" smtClean="0">
                <a:solidFill>
                  <a:prstClr val="black"/>
                </a:solidFill>
                <a:latin typeface="Calibri" panose="020F0502020204030204"/>
              </a:rPr>
              <a:t>extend delivery date of POs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39905" b="7058"/>
          <a:stretch/>
        </p:blipFill>
        <p:spPr>
          <a:xfrm>
            <a:off x="838200" y="1825626"/>
            <a:ext cx="5031658" cy="32969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Content Placeholder 7"/>
          <p:cNvSpPr txBox="1">
            <a:spLocks/>
          </p:cNvSpPr>
          <p:nvPr/>
        </p:nvSpPr>
        <p:spPr>
          <a:xfrm>
            <a:off x="6172200" y="1825625"/>
            <a:ext cx="5181600" cy="2087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smtClean="0"/>
              <a:t>To extend PO delivery date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Click on ‘Multiple selection’ button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Select ‘Select from EKPO (Item Line)’ and click on ‘Correct tick-mark’ button on bottom side.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2000" dirty="0" smtClean="0"/>
          </a:p>
          <a:p>
            <a:endParaRPr lang="en-IN" sz="2000" dirty="0"/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4190722"/>
            <a:ext cx="5181600" cy="25118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502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mass_ekko – To extend delivery date of POs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4556913" cy="43513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57214" y="4316362"/>
            <a:ext cx="5696586" cy="1860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ontent Placeholder 7"/>
          <p:cNvSpPr txBox="1">
            <a:spLocks/>
          </p:cNvSpPr>
          <p:nvPr/>
        </p:nvSpPr>
        <p:spPr>
          <a:xfrm>
            <a:off x="6172200" y="1825625"/>
            <a:ext cx="5181600" cy="2087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smtClean="0"/>
              <a:t>To extend PO delivery date</a:t>
            </a:r>
          </a:p>
          <a:p>
            <a:pPr marL="0" indent="0">
              <a:buNone/>
            </a:pPr>
            <a:r>
              <a:rPr lang="en-US" sz="2000" dirty="0" smtClean="0"/>
              <a:t>3. Enter </a:t>
            </a:r>
            <a:r>
              <a:rPr lang="en-US" sz="2000" dirty="0"/>
              <a:t>PO no. in purchase </a:t>
            </a:r>
            <a:r>
              <a:rPr lang="en-US" sz="2000" dirty="0" smtClean="0"/>
              <a:t>document </a:t>
            </a:r>
            <a:r>
              <a:rPr lang="en-US" sz="2000" dirty="0"/>
              <a:t>field.</a:t>
            </a:r>
          </a:p>
          <a:p>
            <a:pPr marL="800100" lvl="1" indent="-342900">
              <a:buAutoNum type="alphaLcPeriod"/>
            </a:pPr>
            <a:r>
              <a:rPr lang="en-US" sz="1600" dirty="0" smtClean="0"/>
              <a:t>To </a:t>
            </a:r>
            <a:r>
              <a:rPr lang="en-US" sz="1600" dirty="0"/>
              <a:t>enter multiple POs, click on highlighted </a:t>
            </a:r>
            <a:r>
              <a:rPr lang="en-US" sz="1600" dirty="0" smtClean="0"/>
              <a:t>arrow</a:t>
            </a:r>
          </a:p>
          <a:p>
            <a:pPr marL="0" indent="0">
              <a:buNone/>
            </a:pPr>
            <a:r>
              <a:rPr lang="en-US" sz="1800" dirty="0" smtClean="0"/>
              <a:t>4. Click </a:t>
            </a:r>
            <a:r>
              <a:rPr lang="en-US" sz="1800" dirty="0"/>
              <a:t>on ‘Correct tick-mark’ button on bottom side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r>
              <a:rPr lang="en-US" sz="1800" dirty="0" smtClean="0"/>
              <a:t>5. Click on ‘Display grid’ as highlighted in the image.</a:t>
            </a:r>
            <a:endParaRPr lang="en-US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2000" dirty="0" smtClean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57946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mass_ekko – To extend delivery date of POs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57823"/>
            <a:ext cx="5181600" cy="1727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200" y="3952158"/>
            <a:ext cx="5181600" cy="25484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Content Placeholder 7"/>
          <p:cNvSpPr txBox="1">
            <a:spLocks/>
          </p:cNvSpPr>
          <p:nvPr/>
        </p:nvSpPr>
        <p:spPr>
          <a:xfrm>
            <a:off x="6172200" y="1825624"/>
            <a:ext cx="5181600" cy="4211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smtClean="0"/>
              <a:t>To extend PO delivery date</a:t>
            </a:r>
          </a:p>
          <a:p>
            <a:pPr marL="0" indent="0">
              <a:buNone/>
            </a:pPr>
            <a:r>
              <a:rPr lang="en-US" sz="2000" dirty="0" smtClean="0"/>
              <a:t>6. Click on ‘Select All’ button on right-side (highlighted)</a:t>
            </a:r>
          </a:p>
          <a:p>
            <a:pPr marL="0" indent="0">
              <a:buNone/>
            </a:pPr>
            <a:r>
              <a:rPr lang="en-US" sz="2000" dirty="0"/>
              <a:t>7</a:t>
            </a:r>
            <a:r>
              <a:rPr lang="en-US" sz="2000" dirty="0" smtClean="0"/>
              <a:t>. Click on ‘down arrows’ button on the top to expand all items in the PO.</a:t>
            </a:r>
          </a:p>
          <a:p>
            <a:pPr marL="0" indent="0">
              <a:buNone/>
            </a:pPr>
            <a:r>
              <a:rPr lang="en-US" sz="2000" dirty="0" smtClean="0"/>
              <a:t>8. Again, click </a:t>
            </a:r>
            <a:r>
              <a:rPr lang="en-US" sz="2000" dirty="0"/>
              <a:t>on ‘Select All’ button on right-side (highlighted</a:t>
            </a:r>
            <a:r>
              <a:rPr lang="en-US" sz="2000" dirty="0" smtClean="0"/>
              <a:t>) to select all articles in the PO(s).</a:t>
            </a:r>
          </a:p>
          <a:p>
            <a:pPr marL="0" indent="0">
              <a:buNone/>
            </a:pPr>
            <a:r>
              <a:rPr lang="en-US" sz="2000" dirty="0" smtClean="0"/>
              <a:t>9. Click on ‘mass change’ button </a:t>
            </a:r>
            <a:r>
              <a:rPr lang="en-US" sz="2000" dirty="0"/>
              <a:t>highlighted </a:t>
            </a:r>
            <a:r>
              <a:rPr lang="en-US" sz="2000" dirty="0" smtClean="0"/>
              <a:t>on the top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84943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mass_ekko – To extend delivery date of POs</a:t>
            </a:r>
            <a:endParaRPr lang="en-IN" dirty="0"/>
          </a:p>
        </p:txBody>
      </p:sp>
      <p:pic>
        <p:nvPicPr>
          <p:cNvPr id="9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91237"/>
            <a:ext cx="5181600" cy="42201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To extend PO delivery date</a:t>
            </a:r>
          </a:p>
          <a:p>
            <a:pPr marL="0" indent="0">
              <a:buNone/>
            </a:pPr>
            <a:r>
              <a:rPr lang="en-US" sz="2000" dirty="0" smtClean="0"/>
              <a:t>10. Enter the delivery date in ‘</a:t>
            </a:r>
            <a:r>
              <a:rPr lang="en-US" sz="2000" dirty="0" err="1" smtClean="0"/>
              <a:t>dd.mm.yyyy</a:t>
            </a:r>
            <a:r>
              <a:rPr lang="en-US" sz="2000" dirty="0" smtClean="0"/>
              <a:t>’ format.</a:t>
            </a:r>
          </a:p>
          <a:p>
            <a:pPr marL="0" indent="0">
              <a:buNone/>
            </a:pPr>
            <a:r>
              <a:rPr lang="en-US" sz="2000" dirty="0" smtClean="0"/>
              <a:t>11. </a:t>
            </a:r>
            <a:r>
              <a:rPr lang="en-US" sz="2000" dirty="0"/>
              <a:t>Press Execute button on left-top or press </a:t>
            </a:r>
            <a:r>
              <a:rPr lang="en-US" sz="2000" dirty="0" smtClean="0"/>
              <a:t>F8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12. Press ‘Ctrl + S’ to save the changes.</a:t>
            </a:r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52850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3200" b="1" dirty="0" smtClean="0">
                <a:solidFill>
                  <a:prstClr val="black"/>
                </a:solidFill>
                <a:latin typeface="Calibri" panose="020F0502020204030204"/>
              </a:rPr>
              <a:t>me22n </a:t>
            </a:r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– To </a:t>
            </a:r>
            <a:r>
              <a:rPr lang="it-IT" sz="3200" b="1" dirty="0" smtClean="0">
                <a:solidFill>
                  <a:prstClr val="black"/>
                </a:solidFill>
                <a:latin typeface="Calibri" panose="020F0502020204030204"/>
              </a:rPr>
              <a:t>edit </a:t>
            </a:r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POs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1" y="4107169"/>
            <a:ext cx="10515600" cy="2069794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AutoNum type="arabicPeriod"/>
            </a:pPr>
            <a:r>
              <a:rPr lang="en-US" dirty="0" smtClean="0"/>
              <a:t>Change PO quantity</a:t>
            </a:r>
          </a:p>
          <a:p>
            <a:pPr marL="514350" indent="-514350">
              <a:buAutoNum type="arabicPeriod"/>
            </a:pPr>
            <a:r>
              <a:rPr lang="en-US" dirty="0" smtClean="0"/>
              <a:t>Change delivery date</a:t>
            </a:r>
          </a:p>
          <a:p>
            <a:pPr marL="514350" indent="-514350">
              <a:buAutoNum type="arabicPeriod"/>
            </a:pPr>
            <a:r>
              <a:rPr lang="en-US" dirty="0" smtClean="0"/>
              <a:t>Select particular PO line</a:t>
            </a:r>
          </a:p>
          <a:p>
            <a:pPr marL="514350" indent="-514350">
              <a:buAutoNum type="arabicPeriod"/>
            </a:pPr>
            <a:r>
              <a:rPr lang="en-US" dirty="0" smtClean="0"/>
              <a:t>Delete / Undelete article</a:t>
            </a:r>
          </a:p>
          <a:p>
            <a:pPr marL="514350" indent="-514350">
              <a:buAutoNum type="arabicPeriod"/>
            </a:pPr>
            <a:r>
              <a:rPr lang="en-US" dirty="0" smtClean="0"/>
              <a:t>Change Site code</a:t>
            </a:r>
          </a:p>
          <a:p>
            <a:pPr marL="0" indent="0">
              <a:buNone/>
            </a:pPr>
            <a:r>
              <a:rPr lang="en-US" dirty="0" smtClean="0"/>
              <a:t>Note: Vendor code in the PO can not be changed</a:t>
            </a:r>
          </a:p>
          <a:p>
            <a:pPr marL="0" indent="0">
              <a:buNone/>
            </a:pPr>
            <a:r>
              <a:rPr lang="en-US" dirty="0" smtClean="0"/>
              <a:t>Note: Net Price is automatically fetched in the PO</a:t>
            </a:r>
            <a:endParaRPr lang="en-IN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b="50668"/>
          <a:stretch/>
        </p:blipFill>
        <p:spPr>
          <a:xfrm>
            <a:off x="838200" y="1825625"/>
            <a:ext cx="9154280" cy="21466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958994" y="3086301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1</a:t>
            </a:r>
            <a:endParaRPr lang="en-IN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881200" y="3086301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2</a:t>
            </a:r>
            <a:endParaRPr lang="en-IN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868237" y="3226050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3</a:t>
            </a:r>
            <a:endParaRPr lang="en-IN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608653" y="3602900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4</a:t>
            </a:r>
            <a:endParaRPr lang="en-IN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9663714" y="2344930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5</a:t>
            </a:r>
            <a:endParaRPr lang="en-IN" b="1" dirty="0"/>
          </a:p>
        </p:txBody>
      </p:sp>
      <p:cxnSp>
        <p:nvCxnSpPr>
          <p:cNvPr id="17" name="Straight Arrow Connector 16"/>
          <p:cNvCxnSpPr>
            <a:stCxn id="11" idx="3"/>
          </p:cNvCxnSpPr>
          <p:nvPr/>
        </p:nvCxnSpPr>
        <p:spPr>
          <a:xfrm flipV="1">
            <a:off x="5287760" y="3048768"/>
            <a:ext cx="228137" cy="222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1"/>
          </p:cNvCxnSpPr>
          <p:nvPr/>
        </p:nvCxnSpPr>
        <p:spPr>
          <a:xfrm flipH="1" flipV="1">
            <a:off x="6715432" y="3083595"/>
            <a:ext cx="165768" cy="187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1099335" y="3091114"/>
            <a:ext cx="127705" cy="134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4" idx="3"/>
          </p:cNvCxnSpPr>
          <p:nvPr/>
        </p:nvCxnSpPr>
        <p:spPr>
          <a:xfrm flipV="1">
            <a:off x="1937419" y="3696447"/>
            <a:ext cx="122902" cy="91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5" idx="2"/>
          </p:cNvCxnSpPr>
          <p:nvPr/>
        </p:nvCxnSpPr>
        <p:spPr>
          <a:xfrm>
            <a:off x="9828097" y="2714262"/>
            <a:ext cx="33803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289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3200" b="1" dirty="0" smtClean="0">
                <a:solidFill>
                  <a:prstClr val="black"/>
                </a:solidFill>
                <a:latin typeface="Calibri" panose="020F0502020204030204"/>
              </a:rPr>
              <a:t>me22n </a:t>
            </a:r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– To </a:t>
            </a:r>
            <a:r>
              <a:rPr lang="it-IT" sz="3200" b="1" dirty="0" smtClean="0">
                <a:solidFill>
                  <a:prstClr val="black"/>
                </a:solidFill>
                <a:latin typeface="Calibri" panose="020F0502020204030204"/>
              </a:rPr>
              <a:t>edit </a:t>
            </a:r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POs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719" y="5275910"/>
            <a:ext cx="8306797" cy="1396267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To change case lot</a:t>
            </a:r>
          </a:p>
          <a:p>
            <a:pPr marL="971550" lvl="1" indent="-514350">
              <a:buAutoNum type="arabicPeriod"/>
            </a:pPr>
            <a:r>
              <a:rPr lang="en-US" dirty="0" smtClean="0"/>
              <a:t>Click on highlighted area under ‘</a:t>
            </a:r>
            <a:r>
              <a:rPr lang="en-US" dirty="0" err="1" smtClean="0"/>
              <a:t>Oun</a:t>
            </a:r>
            <a:r>
              <a:rPr lang="en-US" dirty="0" smtClean="0"/>
              <a:t>’ field</a:t>
            </a:r>
          </a:p>
          <a:p>
            <a:pPr marL="971550" lvl="1" indent="-514350">
              <a:buAutoNum type="arabicPeriod"/>
            </a:pPr>
            <a:r>
              <a:rPr lang="en-US" dirty="0" smtClean="0"/>
              <a:t>A window will appear similar to image 2</a:t>
            </a:r>
          </a:p>
          <a:p>
            <a:pPr marL="971550" lvl="1" indent="-514350">
              <a:buAutoNum type="arabicPeriod"/>
            </a:pPr>
            <a:r>
              <a:rPr lang="en-US" dirty="0" smtClean="0"/>
              <a:t>Double click required case lot</a:t>
            </a:r>
          </a:p>
          <a:p>
            <a:pPr marL="971550" lvl="1" indent="-514350">
              <a:buAutoNum type="arabicPeriod"/>
            </a:pPr>
            <a:r>
              <a:rPr lang="en-US" dirty="0" smtClean="0"/>
              <a:t>Updated case lot size &amp; total count of SKUs will appear in blue circled area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049" y="2019980"/>
            <a:ext cx="3410879" cy="30641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Content Placeholder 21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31720" y="1583322"/>
            <a:ext cx="7186914" cy="35007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4958994" y="3086301"/>
            <a:ext cx="311649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1</a:t>
            </a:r>
            <a:endParaRPr lang="en-IN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1309279" y="2019980"/>
            <a:ext cx="311649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2</a:t>
            </a:r>
            <a:endParaRPr lang="en-IN" b="1" dirty="0"/>
          </a:p>
        </p:txBody>
      </p:sp>
      <p:cxnSp>
        <p:nvCxnSpPr>
          <p:cNvPr id="26" name="Straight Arrow Connector 25"/>
          <p:cNvCxnSpPr>
            <a:stCxn id="23" idx="3"/>
          </p:cNvCxnSpPr>
          <p:nvPr/>
        </p:nvCxnSpPr>
        <p:spPr>
          <a:xfrm flipV="1">
            <a:off x="5270643" y="2907587"/>
            <a:ext cx="267128" cy="363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4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3200" b="1" dirty="0" smtClean="0">
                <a:solidFill>
                  <a:prstClr val="black"/>
                </a:solidFill>
                <a:latin typeface="Calibri" panose="020F0502020204030204"/>
              </a:rPr>
              <a:t>zrmmrep </a:t>
            </a:r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– To </a:t>
            </a:r>
            <a:r>
              <a:rPr lang="it-IT" sz="3200" b="1" dirty="0" smtClean="0">
                <a:solidFill>
                  <a:prstClr val="black"/>
                </a:solidFill>
                <a:latin typeface="Calibri" panose="020F0502020204030204"/>
              </a:rPr>
              <a:t>get sales price &amp; MRP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33725" b="14943"/>
          <a:stretch/>
        </p:blipFill>
        <p:spPr>
          <a:xfrm>
            <a:off x="655115" y="1388578"/>
            <a:ext cx="3913435" cy="30064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r="36101" b="3776"/>
          <a:stretch/>
        </p:blipFill>
        <p:spPr>
          <a:xfrm>
            <a:off x="4898923" y="1388579"/>
            <a:ext cx="2760340" cy="3006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r="8836" b="5439"/>
          <a:stretch/>
        </p:blipFill>
        <p:spPr>
          <a:xfrm>
            <a:off x="8133736" y="1388579"/>
            <a:ext cx="3550437" cy="30064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Content Placeholder 3"/>
          <p:cNvSpPr txBox="1">
            <a:spLocks/>
          </p:cNvSpPr>
          <p:nvPr/>
        </p:nvSpPr>
        <p:spPr>
          <a:xfrm>
            <a:off x="655115" y="4720301"/>
            <a:ext cx="7967775" cy="121838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To get sales price &amp; MRP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dirty="0" smtClean="0"/>
              <a:t>Click on highlighted area – Sales field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dirty="0" smtClean="0"/>
              <a:t>Click on </a:t>
            </a:r>
            <a:r>
              <a:rPr lang="en-US" dirty="0"/>
              <a:t>highlighted area </a:t>
            </a:r>
            <a:r>
              <a:rPr lang="en-US" dirty="0" smtClean="0"/>
              <a:t>– </a:t>
            </a:r>
            <a:r>
              <a:rPr lang="en-US" dirty="0" err="1" smtClean="0"/>
              <a:t>SalesPrice</a:t>
            </a:r>
            <a:r>
              <a:rPr lang="en-US" dirty="0" smtClean="0"/>
              <a:t> Multiple MRP &amp; </a:t>
            </a:r>
            <a:r>
              <a:rPr lang="en-US" dirty="0" err="1" smtClean="0"/>
              <a:t>Sto</a:t>
            </a:r>
            <a:endParaRPr lang="en-US" dirty="0" smtClean="0"/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dirty="0"/>
              <a:t>Click on highlighted area – </a:t>
            </a:r>
            <a:r>
              <a:rPr lang="en-US" dirty="0" smtClean="0"/>
              <a:t>Article Details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239784" y="1388578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1</a:t>
            </a:r>
            <a:endParaRPr lang="en-IN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330497" y="1388578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2</a:t>
            </a:r>
            <a:endParaRPr lang="en-IN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1332292" y="1388578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3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87640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zrmmrep</a:t>
            </a:r>
            <a:r>
              <a:rPr lang="it-IT" sz="3200" b="1" dirty="0" smtClean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– To get sales price &amp; MRP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98110" y="1825625"/>
            <a:ext cx="4355689" cy="4351338"/>
          </a:xfrm>
        </p:spPr>
        <p:txBody>
          <a:bodyPr/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prstClr val="black"/>
                </a:solidFill>
              </a:rPr>
              <a:t>To get sales price &amp; MRP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 smtClean="0">
                <a:solidFill>
                  <a:prstClr val="black"/>
                </a:solidFill>
              </a:rPr>
              <a:t>4. Enter site code in the highlighted area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 smtClean="0">
                <a:solidFill>
                  <a:prstClr val="black"/>
                </a:solidFill>
              </a:rPr>
              <a:t>5. </a:t>
            </a:r>
            <a:r>
              <a:rPr lang="en-US" sz="1500" dirty="0">
                <a:solidFill>
                  <a:prstClr val="black"/>
                </a:solidFill>
              </a:rPr>
              <a:t>Enter </a:t>
            </a:r>
            <a:r>
              <a:rPr lang="en-US" sz="1500" dirty="0" smtClean="0">
                <a:solidFill>
                  <a:prstClr val="black"/>
                </a:solidFill>
              </a:rPr>
              <a:t>article </a:t>
            </a:r>
            <a:r>
              <a:rPr lang="en-US" sz="1500" dirty="0">
                <a:solidFill>
                  <a:prstClr val="black"/>
                </a:solidFill>
              </a:rPr>
              <a:t>code in </a:t>
            </a:r>
            <a:r>
              <a:rPr lang="en-US" sz="1500" dirty="0" smtClean="0">
                <a:solidFill>
                  <a:prstClr val="black"/>
                </a:solidFill>
              </a:rPr>
              <a:t>the </a:t>
            </a:r>
            <a:r>
              <a:rPr lang="en-US" sz="1500" dirty="0">
                <a:solidFill>
                  <a:prstClr val="black"/>
                </a:solidFill>
              </a:rPr>
              <a:t>highlighted </a:t>
            </a:r>
            <a:r>
              <a:rPr lang="en-US" sz="1500" dirty="0" smtClean="0">
                <a:solidFill>
                  <a:prstClr val="black"/>
                </a:solidFill>
              </a:rPr>
              <a:t>area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>
                <a:solidFill>
                  <a:prstClr val="black"/>
                </a:solidFill>
              </a:rPr>
              <a:t>	</a:t>
            </a:r>
            <a:r>
              <a:rPr lang="en-US" sz="1500" dirty="0" smtClean="0">
                <a:solidFill>
                  <a:prstClr val="black"/>
                </a:solidFill>
              </a:rPr>
              <a:t>a. </a:t>
            </a:r>
            <a:r>
              <a:rPr lang="en-US" sz="1400" dirty="0"/>
              <a:t>To enter multiple </a:t>
            </a:r>
            <a:r>
              <a:rPr lang="en-US" sz="1400" dirty="0" smtClean="0"/>
              <a:t>article codes, </a:t>
            </a:r>
            <a:r>
              <a:rPr lang="en-US" sz="1400" dirty="0"/>
              <a:t>click on highlighted </a:t>
            </a:r>
            <a:r>
              <a:rPr lang="en-US" sz="1400" dirty="0" smtClean="0"/>
              <a:t>arrow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smtClean="0"/>
              <a:t>6. Click on tick-box in front of Pricing Details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smtClean="0"/>
              <a:t>7. Enter condition ‘VKP0’ in highlighted area – 7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smtClean="0"/>
              <a:t>8. Enter condition ‘ZMR5’ </a:t>
            </a:r>
            <a:r>
              <a:rPr lang="en-US" sz="1400" dirty="0"/>
              <a:t>in highlighted area – </a:t>
            </a:r>
            <a:r>
              <a:rPr lang="en-US" sz="1400" dirty="0" smtClean="0"/>
              <a:t>8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smtClean="0"/>
              <a:t>9. Enter today’s date as pricing date in highlighted area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smtClean="0"/>
              <a:t>10. Click on Execute button or press ‘F8’</a:t>
            </a:r>
            <a:endParaRPr lang="en-US" sz="1400" dirty="0"/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500" dirty="0" smtClean="0">
              <a:solidFill>
                <a:prstClr val="black"/>
              </a:solidFill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500" dirty="0" smtClean="0">
              <a:solidFill>
                <a:prstClr val="black"/>
              </a:solidFill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 smtClean="0"/>
          </a:p>
          <a:p>
            <a:pPr marL="971550" lvl="1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endParaRPr lang="en-US" sz="1500" dirty="0">
              <a:solidFill>
                <a:prstClr val="black"/>
              </a:solidFill>
            </a:endParaRPr>
          </a:p>
        </p:txBody>
      </p:sp>
      <p:pic>
        <p:nvPicPr>
          <p:cNvPr id="9" name="Content Placeholder 4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18111" b="52"/>
          <a:stretch/>
        </p:blipFill>
        <p:spPr>
          <a:xfrm>
            <a:off x="838199" y="1825624"/>
            <a:ext cx="5926395" cy="43490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801396" y="2765093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4</a:t>
            </a:r>
            <a:endParaRPr lang="en-IN" b="1" dirty="0"/>
          </a:p>
        </p:txBody>
      </p:sp>
      <p:cxnSp>
        <p:nvCxnSpPr>
          <p:cNvPr id="11" name="Straight Arrow Connector 10"/>
          <p:cNvCxnSpPr>
            <a:stCxn id="10" idx="1"/>
          </p:cNvCxnSpPr>
          <p:nvPr/>
        </p:nvCxnSpPr>
        <p:spPr>
          <a:xfrm flipH="1">
            <a:off x="3411794" y="2949759"/>
            <a:ext cx="389602" cy="255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10131" y="3630808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5</a:t>
            </a:r>
            <a:endParaRPr lang="en-IN" b="1" dirty="0"/>
          </a:p>
        </p:txBody>
      </p:sp>
      <p:cxnSp>
        <p:nvCxnSpPr>
          <p:cNvPr id="15" name="Straight Arrow Connector 14"/>
          <p:cNvCxnSpPr>
            <a:stCxn id="14" idx="3"/>
          </p:cNvCxnSpPr>
          <p:nvPr/>
        </p:nvCxnSpPr>
        <p:spPr>
          <a:xfrm flipV="1">
            <a:off x="2738897" y="3628502"/>
            <a:ext cx="353654" cy="186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78245" y="3721988"/>
            <a:ext cx="41387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5a</a:t>
            </a:r>
            <a:endParaRPr lang="en-IN" b="1" dirty="0"/>
          </a:p>
        </p:txBody>
      </p:sp>
      <p:cxnSp>
        <p:nvCxnSpPr>
          <p:cNvPr id="19" name="Straight Arrow Connector 18"/>
          <p:cNvCxnSpPr>
            <a:stCxn id="18" idx="3"/>
          </p:cNvCxnSpPr>
          <p:nvPr/>
        </p:nvCxnSpPr>
        <p:spPr>
          <a:xfrm flipV="1">
            <a:off x="5792121" y="3628502"/>
            <a:ext cx="185892" cy="278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45748" y="5208885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6</a:t>
            </a:r>
            <a:endParaRPr lang="en-IN" b="1" dirty="0"/>
          </a:p>
        </p:txBody>
      </p:sp>
      <p:cxnSp>
        <p:nvCxnSpPr>
          <p:cNvPr id="23" name="Straight Arrow Connector 22"/>
          <p:cNvCxnSpPr>
            <a:stCxn id="22" idx="1"/>
          </p:cNvCxnSpPr>
          <p:nvPr/>
        </p:nvCxnSpPr>
        <p:spPr>
          <a:xfrm flipH="1" flipV="1">
            <a:off x="1071716" y="4532671"/>
            <a:ext cx="1174032" cy="860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74514" y="4400793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7</a:t>
            </a:r>
            <a:endParaRPr lang="en-IN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420800" y="4749225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8</a:t>
            </a:r>
            <a:endParaRPr lang="en-IN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3817680" y="5017454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9</a:t>
            </a:r>
            <a:endParaRPr lang="en-IN" b="1" dirty="0"/>
          </a:p>
        </p:txBody>
      </p:sp>
      <p:cxnSp>
        <p:nvCxnSpPr>
          <p:cNvPr id="29" name="Straight Arrow Connector 28"/>
          <p:cNvCxnSpPr>
            <a:stCxn id="26" idx="3"/>
          </p:cNvCxnSpPr>
          <p:nvPr/>
        </p:nvCxnSpPr>
        <p:spPr>
          <a:xfrm>
            <a:off x="2903280" y="4585459"/>
            <a:ext cx="208475" cy="7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7" idx="1"/>
          </p:cNvCxnSpPr>
          <p:nvPr/>
        </p:nvCxnSpPr>
        <p:spPr>
          <a:xfrm flipH="1" flipV="1">
            <a:off x="4996784" y="4670323"/>
            <a:ext cx="424016" cy="263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8" idx="1"/>
          </p:cNvCxnSpPr>
          <p:nvPr/>
        </p:nvCxnSpPr>
        <p:spPr>
          <a:xfrm flipH="1" flipV="1">
            <a:off x="3520102" y="4882518"/>
            <a:ext cx="297578" cy="319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715114" y="1997570"/>
            <a:ext cx="530634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10</a:t>
            </a:r>
            <a:endParaRPr lang="en-IN" b="1" dirty="0"/>
          </a:p>
        </p:txBody>
      </p:sp>
      <p:cxnSp>
        <p:nvCxnSpPr>
          <p:cNvPr id="39" name="Straight Arrow Connector 38"/>
          <p:cNvCxnSpPr>
            <a:stCxn id="38" idx="1"/>
          </p:cNvCxnSpPr>
          <p:nvPr/>
        </p:nvCxnSpPr>
        <p:spPr>
          <a:xfrm flipH="1" flipV="1">
            <a:off x="1071716" y="2129448"/>
            <a:ext cx="643398" cy="52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260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3200" b="1" dirty="0" smtClean="0">
                <a:solidFill>
                  <a:prstClr val="black"/>
                </a:solidFill>
                <a:latin typeface="Calibri" panose="020F0502020204030204"/>
              </a:rPr>
              <a:t>me80fn </a:t>
            </a:r>
            <a:r>
              <a:rPr lang="it-IT" sz="3200" b="1" dirty="0">
                <a:solidFill>
                  <a:prstClr val="black"/>
                </a:solidFill>
                <a:latin typeface="Calibri" panose="020F0502020204030204"/>
              </a:rPr>
              <a:t>– To get </a:t>
            </a:r>
            <a:r>
              <a:rPr lang="it-IT" sz="3200" b="1" dirty="0" smtClean="0">
                <a:solidFill>
                  <a:prstClr val="black"/>
                </a:solidFill>
                <a:latin typeface="Calibri" panose="020F0502020204030204"/>
              </a:rPr>
              <a:t>STO dump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98110" y="1825625"/>
            <a:ext cx="4355689" cy="4351338"/>
          </a:xfrm>
        </p:spPr>
        <p:txBody>
          <a:bodyPr/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prstClr val="black"/>
                </a:solidFill>
              </a:rPr>
              <a:t>To get </a:t>
            </a:r>
            <a:r>
              <a:rPr lang="en-US" sz="1500" b="1" dirty="0" smtClean="0">
                <a:solidFill>
                  <a:prstClr val="black"/>
                </a:solidFill>
              </a:rPr>
              <a:t>STO dump</a:t>
            </a:r>
            <a:endParaRPr lang="en-US" sz="1500" b="1" dirty="0">
              <a:solidFill>
                <a:prstClr val="black"/>
              </a:solidFill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 smtClean="0">
                <a:solidFill>
                  <a:prstClr val="black"/>
                </a:solidFill>
              </a:rPr>
              <a:t>In purchasing document insert STO no and execute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 smtClean="0">
                <a:solidFill>
                  <a:prstClr val="black"/>
                </a:solidFill>
              </a:rPr>
              <a:t>In change view select delivery schedule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 smtClean="0">
                <a:solidFill>
                  <a:prstClr val="black"/>
                </a:solidFill>
              </a:rPr>
              <a:t>Then export to excel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 smtClean="0"/>
          </a:p>
          <a:p>
            <a:pPr marL="971550" lvl="1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endParaRPr lang="en-US" sz="1500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01396" y="2765093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4</a:t>
            </a:r>
            <a:endParaRPr lang="en-IN" b="1" dirty="0"/>
          </a:p>
        </p:txBody>
      </p:sp>
      <p:cxnSp>
        <p:nvCxnSpPr>
          <p:cNvPr id="11" name="Straight Arrow Connector 10"/>
          <p:cNvCxnSpPr>
            <a:stCxn id="10" idx="1"/>
          </p:cNvCxnSpPr>
          <p:nvPr/>
        </p:nvCxnSpPr>
        <p:spPr>
          <a:xfrm flipH="1">
            <a:off x="3411794" y="2949759"/>
            <a:ext cx="389602" cy="255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10131" y="3630808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5</a:t>
            </a:r>
            <a:endParaRPr lang="en-IN" b="1" dirty="0"/>
          </a:p>
        </p:txBody>
      </p:sp>
      <p:cxnSp>
        <p:nvCxnSpPr>
          <p:cNvPr id="15" name="Straight Arrow Connector 14"/>
          <p:cNvCxnSpPr>
            <a:stCxn id="14" idx="3"/>
          </p:cNvCxnSpPr>
          <p:nvPr/>
        </p:nvCxnSpPr>
        <p:spPr>
          <a:xfrm flipV="1">
            <a:off x="2738897" y="3628502"/>
            <a:ext cx="353654" cy="186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78245" y="3721988"/>
            <a:ext cx="41387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5a</a:t>
            </a:r>
            <a:endParaRPr lang="en-IN" b="1" dirty="0"/>
          </a:p>
        </p:txBody>
      </p:sp>
      <p:cxnSp>
        <p:nvCxnSpPr>
          <p:cNvPr id="19" name="Straight Arrow Connector 18"/>
          <p:cNvCxnSpPr>
            <a:stCxn id="18" idx="3"/>
          </p:cNvCxnSpPr>
          <p:nvPr/>
        </p:nvCxnSpPr>
        <p:spPr>
          <a:xfrm flipV="1">
            <a:off x="5792121" y="3628502"/>
            <a:ext cx="185892" cy="278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45748" y="5208885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6</a:t>
            </a:r>
            <a:endParaRPr lang="en-IN" b="1" dirty="0"/>
          </a:p>
        </p:txBody>
      </p:sp>
      <p:cxnSp>
        <p:nvCxnSpPr>
          <p:cNvPr id="23" name="Straight Arrow Connector 22"/>
          <p:cNvCxnSpPr>
            <a:stCxn id="22" idx="1"/>
          </p:cNvCxnSpPr>
          <p:nvPr/>
        </p:nvCxnSpPr>
        <p:spPr>
          <a:xfrm flipH="1" flipV="1">
            <a:off x="1071716" y="4532671"/>
            <a:ext cx="1174032" cy="860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74514" y="4400793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7</a:t>
            </a:r>
            <a:endParaRPr lang="en-IN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420800" y="4749225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8</a:t>
            </a:r>
            <a:endParaRPr lang="en-IN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3817680" y="5017454"/>
            <a:ext cx="32876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9</a:t>
            </a:r>
            <a:endParaRPr lang="en-IN" b="1" dirty="0"/>
          </a:p>
        </p:txBody>
      </p:sp>
      <p:cxnSp>
        <p:nvCxnSpPr>
          <p:cNvPr id="29" name="Straight Arrow Connector 28"/>
          <p:cNvCxnSpPr>
            <a:stCxn id="26" idx="3"/>
          </p:cNvCxnSpPr>
          <p:nvPr/>
        </p:nvCxnSpPr>
        <p:spPr>
          <a:xfrm>
            <a:off x="2903280" y="4585459"/>
            <a:ext cx="208475" cy="7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7" idx="1"/>
          </p:cNvCxnSpPr>
          <p:nvPr/>
        </p:nvCxnSpPr>
        <p:spPr>
          <a:xfrm flipH="1" flipV="1">
            <a:off x="4996784" y="4670323"/>
            <a:ext cx="424016" cy="263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8" idx="1"/>
          </p:cNvCxnSpPr>
          <p:nvPr/>
        </p:nvCxnSpPr>
        <p:spPr>
          <a:xfrm flipH="1" flipV="1">
            <a:off x="3520102" y="4882518"/>
            <a:ext cx="297578" cy="319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715114" y="1997570"/>
            <a:ext cx="530634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10</a:t>
            </a:r>
            <a:endParaRPr lang="en-IN" b="1" dirty="0"/>
          </a:p>
        </p:txBody>
      </p:sp>
      <p:cxnSp>
        <p:nvCxnSpPr>
          <p:cNvPr id="39" name="Straight Arrow Connector 38"/>
          <p:cNvCxnSpPr>
            <a:stCxn id="38" idx="1"/>
          </p:cNvCxnSpPr>
          <p:nvPr/>
        </p:nvCxnSpPr>
        <p:spPr>
          <a:xfrm flipH="1" flipV="1">
            <a:off x="1071716" y="2129448"/>
            <a:ext cx="643398" cy="52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-2878" r="41472" b="1"/>
          <a:stretch/>
        </p:blipFill>
        <p:spPr>
          <a:xfrm>
            <a:off x="237507" y="1235033"/>
            <a:ext cx="6614555" cy="539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59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3988</TotalTime>
  <Words>1464</Words>
  <Application>Microsoft Office PowerPoint</Application>
  <PresentationFormat>Widescreen</PresentationFormat>
  <Paragraphs>195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zlist - To check Listing Status</vt:lpstr>
      <vt:lpstr>ym2r - To check  MAP</vt:lpstr>
      <vt:lpstr>zgst - To get GST (Tax %) of article</vt:lpstr>
      <vt:lpstr>me21n - To create PO / STO</vt:lpstr>
      <vt:lpstr>me21n - To create PO / STO</vt:lpstr>
      <vt:lpstr>me28 – Release PO</vt:lpstr>
      <vt:lpstr>me28 – Release PO</vt:lpstr>
      <vt:lpstr>ym42 – PO PDF</vt:lpstr>
      <vt:lpstr>ym42 – PO PDF</vt:lpstr>
      <vt:lpstr>zpohsnupd – To refresh PO</vt:lpstr>
      <vt:lpstr>zrrm – To reshoot PO</vt:lpstr>
      <vt:lpstr>zrrm – To reshoot PO</vt:lpstr>
      <vt:lpstr>Me22n To delete single po</vt:lpstr>
      <vt:lpstr>memasspo – To delete / undelete multiple POs</vt:lpstr>
      <vt:lpstr>memasspo – To delete / undelete multiple POs</vt:lpstr>
      <vt:lpstr>memasspo – To delete / undelete multiple POs</vt:lpstr>
      <vt:lpstr>memasspo – To delete / undelete multiple POs</vt:lpstr>
      <vt:lpstr>mass_ekko – To extend delivery date of POs</vt:lpstr>
      <vt:lpstr>mass_ekko – To extend delivery date of POs</vt:lpstr>
      <vt:lpstr>mass_ekko – To extend delivery date of POs</vt:lpstr>
      <vt:lpstr>mass_ekko – To extend delivery date of POs</vt:lpstr>
      <vt:lpstr>mass_ekko – To extend delivery date of POs</vt:lpstr>
      <vt:lpstr>me22n – To edit POs</vt:lpstr>
      <vt:lpstr>me22n – To edit POs</vt:lpstr>
      <vt:lpstr>zrmmrep – To get sales price &amp; MRP</vt:lpstr>
      <vt:lpstr>zrmmrep – To get sales price &amp; MRP</vt:lpstr>
      <vt:lpstr>me80fn – To get STO dump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Athavale</dc:creator>
  <cp:lastModifiedBy>Dhananjaya T</cp:lastModifiedBy>
  <cp:revision>72</cp:revision>
  <dcterms:created xsi:type="dcterms:W3CDTF">2024-07-23T11:01:22Z</dcterms:created>
  <dcterms:modified xsi:type="dcterms:W3CDTF">2025-01-24T14:45:30Z</dcterms:modified>
</cp:coreProperties>
</file>